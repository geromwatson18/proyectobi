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2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"/>
          </a:xfrm>
          <a:prstGeom prst="roundRect">
            <a:avLst/>
          </a:prstGeom>
          <a:solidFill>
            <a:srgbClr val="7B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🌶️ Las Salsas de Lucho</a:t>
            </a:r>
          </a:p>
          <a:p>
            <a:pPr algn="l">
              <a:spcAft>
                <a:spcPts val="600"/>
              </a:spcAft>
            </a:pPr>
            <a:r>
              <a:rPr sz="2600" b="0" i="0">
                <a:solidFill>
                  <a:srgbClr val="FCF6F5"/>
                </a:solidFill>
                <a:latin typeface="Calibri"/>
              </a:rPr>
              <a:t>Solución integral de Inteligencia de Negocios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4206240"/>
            <a:ext cx="10332720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CF6F5"/>
                </a:solidFill>
                <a:latin typeface="Calibri"/>
              </a:rPr>
              <a:t>Proyecto 02 · Curso de Inteligencia de Negocios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CF6F5"/>
                </a:solidFill>
                <a:latin typeface="Calibri"/>
              </a:rPr>
              <a:t>Tecnológico de Costa Rica — ATI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E67E22"/>
                </a:solidFill>
                <a:latin typeface="Calibri"/>
              </a:rPr>
              <a:t>Gerom Watson Araya · carné 2017168284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7B241C"/>
                </a:solidFill>
                <a:latin typeface="Cambria"/>
              </a:rPr>
              <a:t>La organización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707070"/>
                </a:solidFill>
                <a:latin typeface="Calibri"/>
              </a:rPr>
              <a:t>PYME comercial de salsas artesanales · Cartago, Costa 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852160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•  Microempresa de alimentos fundada en 2021.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•  Produce salsas y aderezos artesanales en botella de 200 ml.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•  Precio de venta: ₡3.000 por botella.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•  Canal principal: mayoreo a ~80 puntos de venta (pulperías, mini súper, sodas, restaurantes) en todo el país.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•  Otros canales: tienda física, ferias del agricultor y pedidos en línea.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•  Registro en facturación sencilla + hojas de cálculo → problemas de calidad de datos.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920240"/>
            <a:ext cx="4754880" cy="3840480"/>
          </a:xfrm>
          <a:prstGeom prst="round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286000"/>
            <a:ext cx="22402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C0392B"/>
                </a:solidFill>
                <a:latin typeface="Cambria"/>
              </a:rPr>
              <a:t>₡3.000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3063240"/>
            <a:ext cx="22402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precio · 200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1160" y="2286000"/>
            <a:ext cx="22402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E67E22"/>
                </a:solidFill>
                <a:latin typeface="Cambria"/>
              </a:rPr>
              <a:t>~80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3063240"/>
            <a:ext cx="22402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puntos de venta/mes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4023360"/>
            <a:ext cx="22402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C0392B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800600"/>
            <a:ext cx="22402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canales de venta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4023360"/>
            <a:ext cx="22402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E67E22"/>
                </a:solidFill>
                <a:latin typeface="Cambria"/>
              </a:rPr>
              <a:t>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4800600"/>
            <a:ext cx="22402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año de fundación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7B241C"/>
                </a:solidFill>
                <a:latin typeface="Cambria"/>
              </a:rPr>
              <a:t>El problema y las preguntas de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2B2B2B"/>
                </a:solidFill>
                <a:latin typeface="Calibri"/>
              </a:rPr>
              <a:t>El propietario decide por intuición: no sabe qué productos y canales dejan utilidad, cuánto inventario lento acumula, ni cómo planificar la producción.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88920"/>
            <a:ext cx="914400" cy="5669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9144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PN1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788920"/>
            <a:ext cx="987552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¿Qué productos concentran ventas y margen, y cuáles rotan poco?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02152"/>
            <a:ext cx="914400" cy="5669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9144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PN2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502152"/>
            <a:ext cx="987552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¿Qué canal es más rentable y cómo evoluciona?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15384"/>
            <a:ext cx="914400" cy="5669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15384"/>
            <a:ext cx="9144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PN3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215384"/>
            <a:ext cx="987552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¿Cómo es la estacionalidad de la demanda?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28616"/>
            <a:ext cx="914400" cy="5669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928616"/>
            <a:ext cx="9144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PN4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928616"/>
            <a:ext cx="987552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¿Las promociones ayudan o erosionan el margen?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641848"/>
            <a:ext cx="914400" cy="5669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641848"/>
            <a:ext cx="9144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PN5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641848"/>
            <a:ext cx="987552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(Exploratoria) ¿Hay dependencia de pocos clientes o de un canal? Geografía.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7B241C"/>
                </a:solidFill>
                <a:latin typeface="Cambria"/>
              </a:rPr>
              <a:t>Arquitectura de 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707070"/>
                </a:solidFill>
                <a:latin typeface="Calibri"/>
              </a:rPr>
              <a:t>Trazabilidad: fuente → ETL → modelo dimensional → tablero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2514600" cy="182880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606040"/>
            <a:ext cx="2286000" cy="1691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Fuente operacional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CF6F5"/>
                </a:solidFill>
                <a:latin typeface="Calibri"/>
              </a:rPr>
              <a:t>CSV / PostgreSQL</a:t>
            </a:r>
            <a:br/>
            <a:r>
              <a:t>(salsas_op) · 9 entidades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82111" y="2926080"/>
            <a:ext cx="4572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707070"/>
                </a:solidFill>
                <a:latin typeface="Calibri"/>
              </a:rPr>
              <a:t>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2468880"/>
            <a:ext cx="2514600" cy="18288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606040"/>
            <a:ext cx="2286000" cy="1691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ETL en Python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CF6F5"/>
                </a:solidFill>
                <a:latin typeface="Calibri"/>
              </a:rPr>
              <a:t>pandas + SQLAlchemy</a:t>
            </a:r>
            <a:br/>
            <a:r>
              <a:t>10 reglas + calidad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44183" y="2926080"/>
            <a:ext cx="4572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707070"/>
                </a:solidFill>
                <a:latin typeface="Calibri"/>
              </a:rPr>
              <a:t>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4224" y="2468880"/>
            <a:ext cx="2514600" cy="1828800"/>
          </a:xfrm>
          <a:prstGeom prst="roundRect">
            <a:avLst/>
          </a:prstGeom>
          <a:solidFill>
            <a:srgbClr val="7B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606040"/>
            <a:ext cx="2286000" cy="1691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Modelo dimensional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CF6F5"/>
                </a:solidFill>
                <a:latin typeface="Calibri"/>
              </a:rPr>
              <a:t>Estrella (salsas_dw)</a:t>
            </a:r>
            <a:br/>
            <a:r>
              <a:t>2 hechos · 6 dimensiones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926080"/>
            <a:ext cx="4572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707070"/>
                </a:solidFill>
                <a:latin typeface="Calibri"/>
              </a:rPr>
              <a:t>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26296" y="2468880"/>
            <a:ext cx="2514600" cy="182880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6024" y="2606040"/>
            <a:ext cx="2286000" cy="1691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Tablero analítico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CF6F5"/>
                </a:solidFill>
                <a:latin typeface="Calibri"/>
              </a:rPr>
              <a:t>Streamlit + Plotly</a:t>
            </a:r>
            <a:br/>
            <a:r>
              <a:t>6 vistas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1097280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Herramienta de ETL distinta de Power BI / Tableau (requisito del curso).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Pipeline reproducible y agnóstico del motor (PostgreSQL en producción, SQLite para verificación).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7B241C"/>
                </a:solidFill>
                <a:latin typeface="Cambria"/>
              </a:rPr>
              <a:t>Fuente operacional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707070"/>
                </a:solidFill>
                <a:latin typeface="Calibri"/>
              </a:rPr>
              <a:t>9 entidades relacionadas · 2 años de historia · problemas de calidad reales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657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categorias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828800"/>
            <a:ext cx="10972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95728"/>
            <a:ext cx="3657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productos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395728"/>
            <a:ext cx="10972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62656"/>
            <a:ext cx="3657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clientes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962656"/>
            <a:ext cx="10972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137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9584"/>
            <a:ext cx="3657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canales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529584"/>
            <a:ext cx="10972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96512"/>
            <a:ext cx="3657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vendedores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096512"/>
            <a:ext cx="10972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28800"/>
            <a:ext cx="3657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promociones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1828800"/>
            <a:ext cx="10972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395728"/>
            <a:ext cx="3657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ventas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395728"/>
            <a:ext cx="10972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3.655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962656"/>
            <a:ext cx="3657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detalle_ventas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962656"/>
            <a:ext cx="10972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5.055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529584"/>
            <a:ext cx="3657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movimientos_inventario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529584"/>
            <a:ext cx="10972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240</a:t>
            </a:r>
          </a:p>
        </p:txBody>
      </p:sp>
      <p:pic>
        <p:nvPicPr>
          <p:cNvPr id="22" name="Picture 21" descr="modelo_opera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277" y="4297680"/>
            <a:ext cx="2462805" cy="23774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52160" y="4069080"/>
            <a:ext cx="6035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707070"/>
                </a:solidFill>
                <a:latin typeface="Calibri"/>
              </a:rPr>
              <a:t>Modelo operacional (origen)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7B241C"/>
                </a:solidFill>
                <a:latin typeface="Cambria"/>
              </a:rPr>
              <a:t>Modelo dimensional — esquema estrella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707070"/>
                </a:solidFill>
                <a:latin typeface="Calibri"/>
              </a:rPr>
              <a:t>2 hechos · 6 dimensiones · dim_tiempo · llaves subrogadas · dimensiones conformadas</a:t>
            </a:r>
          </a:p>
        </p:txBody>
      </p:sp>
      <p:pic>
        <p:nvPicPr>
          <p:cNvPr id="4" name="Picture 3" descr="modelo_dimens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823" y="1737360"/>
            <a:ext cx="2996592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920240"/>
            <a:ext cx="3383280" cy="4572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C0392B"/>
                </a:solidFill>
                <a:latin typeface="Cambria"/>
              </a:rPr>
              <a:t>fact_ventas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grano: línea de factura (4.989 filas)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C0392B"/>
                </a:solidFill>
                <a:latin typeface="Cambria"/>
              </a:rPr>
              <a:t>fact_inventario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grano: snapshot mensual/producto (240)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 Conformadas: dim_tiempo y dim_producto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 Jerarquías de tiempo, producto y geografía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 ≥17 medidas documentadas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7B241C"/>
                </a:solidFill>
                <a:latin typeface="Cambria"/>
              </a:rPr>
              <a:t>Proceso ETL — 10 reglas no triviales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707070"/>
                </a:solidFill>
                <a:latin typeface="Calibri"/>
              </a:rPr>
              <a:t>Validación de calidad ANTES del ETL; transformaciones documentadas y trazables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394960" cy="530352"/>
          </a:xfrm>
          <a:prstGeom prst="round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2120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R1 · dim_tiempo (calendario + temporada)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5394960" cy="530352"/>
          </a:xfrm>
          <a:prstGeom prst="round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52120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R2 · llaves subrogadas en dimensiones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5394960" cy="530352"/>
          </a:xfrm>
          <a:prstGeom prst="round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52120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R3 · homologación de catálogos (23 prov. / 19 canal)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49039"/>
            <a:ext cx="5394960" cy="530352"/>
          </a:xfrm>
          <a:prstGeom prst="round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52120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R4 · antigüedad de cliente (imputa 16 nulos)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89120"/>
            <a:ext cx="5394960" cy="530352"/>
          </a:xfrm>
          <a:prstGeom prst="round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389120"/>
            <a:ext cx="52120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R5 · segmentación RFM de clientes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28800"/>
            <a:ext cx="5394960" cy="530352"/>
          </a:xfrm>
          <a:prstGeom prst="round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2120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R6 · outliers de cantidad por IQR (24)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468880"/>
            <a:ext cx="5394960" cy="530352"/>
          </a:xfrm>
          <a:prstGeom prst="round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468880"/>
            <a:ext cx="52120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R7 · deduplicación de líneas (24)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108960"/>
            <a:ext cx="5394960" cy="530352"/>
          </a:xfrm>
          <a:prstGeom prst="round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108960"/>
            <a:ext cx="52120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R8 · medidas: neto, costo, margen (imputa 212 costos)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49039"/>
            <a:ext cx="5394960" cy="530352"/>
          </a:xfrm>
          <a:prstGeom prst="round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749039"/>
            <a:ext cx="52120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R9 · integridad referencial → 'No identificado' (17)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389120"/>
            <a:ext cx="5394960" cy="530352"/>
          </a:xfrm>
          <a:prstGeom prst="round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389120"/>
            <a:ext cx="52120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R10 · tipado y estandarización de formatos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5780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7B241C"/>
                </a:solidFill>
                <a:latin typeface="Calibri"/>
              </a:rPr>
              <a:t>Evidencia: bitácoras en evidencia/etl_logs/ · resultado: fact_ventas = 4.989 filas.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7B241C"/>
                </a:solidFill>
                <a:latin typeface="Cambria"/>
              </a:rPr>
              <a:t>Validación de calidad de datos (pre-ETL)</a:t>
            </a:r>
          </a:p>
        </p:txBody>
      </p:sp>
      <p:pic>
        <p:nvPicPr>
          <p:cNvPr id="3" name="Picture 2" descr="07_cal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97760"/>
            <a:ext cx="7315200" cy="3251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2011680"/>
            <a:ext cx="365760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Se perfila la calidad ANTES de transformar.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Nulos en fecha, canal y costo.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Cantidades atípicas y negativas.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Duplicados y FK rotas.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7B241C"/>
                </a:solidFill>
                <a:latin typeface="Calibri"/>
              </a:rPr>
              <a:t>•  Cada problema lo corrige una regla R1–R10.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7B241C"/>
                </a:solidFill>
                <a:latin typeface="Cambria"/>
              </a:rPr>
              <a:t>Tablero analítico — 6 vistas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707070"/>
                </a:solidFill>
                <a:latin typeface="Calibri"/>
              </a:rPr>
              <a:t>Streamlit + Plotly · segmentadores por año, canal y categoría</a:t>
            </a:r>
          </a:p>
        </p:txBody>
      </p:sp>
      <p:pic>
        <p:nvPicPr>
          <p:cNvPr id="4" name="Picture 3" descr="01_pareto_produc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71700"/>
            <a:ext cx="740664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2011680"/>
            <a:ext cx="3657600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1 · Resumen ejecutivo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2 · Productos y rotación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3 · Canales y vendedores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4 · Estacionalidad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5 · Promociones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6 · Clientes y geografía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7B241C"/>
                </a:solidFill>
                <a:latin typeface="Cambria"/>
              </a:rPr>
              <a:t>PN1 · Productos y rotación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707070"/>
                </a:solidFill>
                <a:latin typeface="Calibri"/>
              </a:rPr>
              <a:t>Las 3 estrella concentran el 85,2% del ingreso</a:t>
            </a:r>
          </a:p>
        </p:txBody>
      </p:sp>
      <p:pic>
        <p:nvPicPr>
          <p:cNvPr id="4" name="Picture 3" descr="01_pareto_produc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822960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052560" y="2194560"/>
            <a:ext cx="2743200" cy="3474720"/>
          </a:xfrm>
          <a:prstGeom prst="round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89720" y="2331720"/>
            <a:ext cx="2514600" cy="3291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Habanero 33% · Chilero 26% · Ajo 26%.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7 especialidades &lt; 15% del ingreso.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•  Baja rotación: ~390 días de inventario.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7B241C"/>
                </a:solidFill>
                <a:latin typeface="Cambria"/>
              </a:rPr>
              <a:t>PN2 · Rentabilidad por canal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707070"/>
                </a:solidFill>
                <a:latin typeface="Calibri"/>
              </a:rPr>
              <a:t>Mayoreo = 90,9% del ingreso (₡44,4 M)</a:t>
            </a:r>
          </a:p>
        </p:txBody>
      </p:sp>
      <p:pic>
        <p:nvPicPr>
          <p:cNvPr id="4" name="Picture 3" descr="02_ca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63089"/>
            <a:ext cx="8229600" cy="43205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052560" y="2194560"/>
            <a:ext cx="2743200" cy="3474720"/>
          </a:xfrm>
          <a:prstGeom prst="round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89720" y="2331720"/>
            <a:ext cx="2514600" cy="3291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~80 puntos de venta sostienen el negocio.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Márgenes parejos: 57–59% entre canales.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•  Riesgo: casi todo pasa por un solo canal.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7B241C"/>
                </a:solidFill>
                <a:latin typeface="Cambria"/>
              </a:rPr>
              <a:t>PN3 · Estacionalidad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707070"/>
                </a:solidFill>
                <a:latin typeface="Calibri"/>
              </a:rPr>
              <a:t>Ingreso promedio diario por mes</a:t>
            </a:r>
          </a:p>
        </p:txBody>
      </p:sp>
      <p:pic>
        <p:nvPicPr>
          <p:cNvPr id="4" name="Picture 3" descr="03_estacional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95144"/>
            <a:ext cx="8229600" cy="345643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052560" y="2194560"/>
            <a:ext cx="2743200" cy="3474720"/>
          </a:xfrm>
          <a:prstGeom prst="round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89720" y="2331720"/>
            <a:ext cx="2514600" cy="3291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Picos en noviembre–diciembre.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Piso en enero–febrero.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7B241C"/>
                </a:solidFill>
                <a:latin typeface="Calibri"/>
              </a:rPr>
              <a:t>•  Anticipar producción de estrella antes de nov.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7B241C"/>
                </a:solidFill>
                <a:latin typeface="Cambria"/>
              </a:rPr>
              <a:t>PN4 · Promociones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707070"/>
                </a:solidFill>
                <a:latin typeface="Calibri"/>
              </a:rPr>
              <a:t>'Liquidación lenta' destruye margen</a:t>
            </a:r>
          </a:p>
        </p:txBody>
      </p:sp>
      <p:pic>
        <p:nvPicPr>
          <p:cNvPr id="4" name="Picture 3" descr="04_promo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90164"/>
            <a:ext cx="8229600" cy="406639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052560" y="2194560"/>
            <a:ext cx="2743200" cy="3474720"/>
          </a:xfrm>
          <a:prstGeom prst="round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89720" y="2331720"/>
            <a:ext cx="2514600" cy="3291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Sin promo: 59,7% de margen.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Liquidación lenta: 45,6% y solo 0,4% del ingreso.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•  Eliminar o sustituir por combos.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7B241C"/>
                </a:solidFill>
                <a:latin typeface="Cambria"/>
              </a:rPr>
              <a:t>PN5 · Clientes y geografía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707070"/>
                </a:solidFill>
                <a:latin typeface="Calibri"/>
              </a:rPr>
              <a:t>Ingreso bien repartido entre los ~80 puntos</a:t>
            </a:r>
          </a:p>
        </p:txBody>
      </p:sp>
      <p:pic>
        <p:nvPicPr>
          <p:cNvPr id="4" name="Picture 3" descr="05_cli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822960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052560" y="2194560"/>
            <a:ext cx="2743200" cy="3474720"/>
          </a:xfrm>
          <a:prstGeom prst="round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89720" y="2331720"/>
            <a:ext cx="2514600" cy="3291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Top-5 clientes = solo 6,8%: sin dependencia de pocos.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GAM 65,5% · zonas costeras 34,1%.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7B241C"/>
                </a:solidFill>
                <a:latin typeface="Calibri"/>
              </a:rPr>
              <a:t>•  El riesgo es de canal y surtido, no de cliente.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7B241C"/>
                </a:solidFill>
                <a:latin typeface="Cambria"/>
              </a:rPr>
              <a:t>Hallazgos y recomendaciones accionables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5486400" cy="4572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1" i="0">
                <a:solidFill>
                  <a:srgbClr val="7B241C"/>
                </a:solidFill>
                <a:latin typeface="Cambria"/>
              </a:rPr>
              <a:t>Hallazgos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85% del ingreso en 3 productos.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91% del ingreso por mayoreo (~80 puntos).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Demanda estacional (picos nov–dic).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Promos que erosionan margen.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Sin dependencia de pocos clientes.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737360"/>
            <a:ext cx="5486400" cy="4572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1" i="0">
                <a:solidFill>
                  <a:srgbClr val="C0392B"/>
                </a:solidFill>
                <a:latin typeface="Cambria"/>
              </a:rPr>
              <a:t>Recomendaciones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Racionalizar el catálogo lento.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Planificar producción por estacionalidad.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Revisar política de promociones.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Reducir dependencia del mayoreo (tienda y línea).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Cerrar catálogos para mejorar la calidad de datos.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2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Limitaciones y mejoras futuras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CF6F5"/>
                </a:solidFill>
                <a:latin typeface="Calibri"/>
              </a:rPr>
              <a:t>Datos sintéticos/anonimizados; margen bruto (sin costos indirectos); RFM simplificado.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CF6F5"/>
                </a:solidFill>
                <a:latin typeface="Calibri"/>
              </a:rPr>
              <a:t>Futuro: integrar costos indirectos, pronóstico de demanda y datos en tiempo real.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4754880"/>
            <a:ext cx="1033272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67E22"/>
                </a:solidFill>
                <a:latin typeface="Calibri"/>
              </a:rPr>
              <a:t>Trabajo colaborativo y reproducible en GitHub: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github.com/geromwatson18/ProyectoBI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¡Gracias!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